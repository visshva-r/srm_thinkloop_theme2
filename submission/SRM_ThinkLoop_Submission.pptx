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7" roundtripDataSignature="AMtx7mgQuomGbdS/wh2yqkB/K4YAZ70Y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9" name="Google Shape;159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Closing slide. Add the Google Form URL and a contact email before sharing. Edition 2 organising team for reference: Language AI - Sourabh Tiwari, Gaurav, Sanjeeth Pothireddy, Gorang Maniar; PRISM - Binny Lakra, Prakhar Chandrakar, Vishu Kumar; Kick-off and mentors - Giridhar Jakki, Deepraj Prabhakar Patkar (Language AI), Srimanu Prasad Nagaraju, Ashish Kumar (Tech Strategy).</a:t>
            </a:r>
            <a:endParaRPr/>
          </a:p>
        </p:txBody>
      </p:sp>
      <p:sp>
        <p:nvSpPr>
          <p:cNvPr id="160" name="Google Shape;160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" name="Google Shape;19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5" name="Google Shape;25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7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1" name="Google Shape;31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8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8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9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4" name="Google Shape;44;p19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19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6" name="Google Shape;46;p19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2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2" name="Google Shape;62;p2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3" name="Google Shape;63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2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0" name="Google Shape;70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24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6" name="Google Shape;76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5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/>
          <p:nvPr/>
        </p:nvSpPr>
        <p:spPr>
          <a:xfrm>
            <a:off x="777240" y="676656"/>
            <a:ext cx="2423160" cy="347472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D9D3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777240" y="676656"/>
            <a:ext cx="2423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SAMSUNG PRISM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777240" y="1207008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Generative AI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777240" y="1901952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Hackathon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777240" y="2724912"/>
            <a:ext cx="6126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3rd Edition</a:t>
            </a:r>
            <a:r>
              <a:rPr b="0" i="0" lang="en-US" sz="20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  2026 – 27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777240" y="3310128"/>
            <a:ext cx="58521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sz="1200">
                <a:latin typeface="Calibri"/>
              </a:rPr>
              <a:t>Theme ID - 2 (Guided Troubleshooting)
Team Name - SRM_ThinkLoop_Theme2
College Name - SRM Institute of Science and Technology
Member Name &amp; Email 1- Visshva R (vr6123@srmist.edu.in)
Member Name &amp; Email 2- N/A (solo)
Member Name &amp; Email 3- N/A
Member Name &amp; Email 4- N/A
Submission Github link - https://github.com/visshva-r/SRM_ThinkLoop_Theme2</a:t>
            </a:r>
            <a:endParaRPr/>
          </a:p>
        </p:txBody>
      </p:sp>
      <p:pic>
        <p:nvPicPr>
          <p:cNvPr descr="hero_network.png" id="96" name="Google Shape;9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59168" y="1051560"/>
            <a:ext cx="4572000" cy="457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2000" b="1">
                <a:latin typeface="Calibri"/>
              </a:rPr>
              <a:t>Theme</a:t>
            </a:r>
            <a:endParaRPr/>
          </a:p>
          <a:p>
            <a:pPr>
              <a:spcBef>
                <a:spcPts val="300"/>
              </a:spcBef>
            </a:pPr>
            <a:r>
              <a:rPr sz="1200">
                <a:latin typeface="Calibri"/>
              </a:rPr>
              <a:t>Theme 2: Smart Guided Troubleshooting Engine</a:t>
            </a:r>
          </a:p>
          <a:p>
            <a:pPr>
              <a:spcBef>
                <a:spcPts val="300"/>
              </a:spcBef>
            </a:pPr>
            <a:r>
              <a:rPr sz="1200">
                <a:latin typeface="Calibri"/>
              </a:rPr>
              <a:t>Problem: Convert a natural-language Galaxy issue + SIIS support text into a schema-valid troubleshooting plan with masked Settings deeplinks.</a:t>
            </a:r>
          </a:p>
          <a:p>
            <a:pPr>
              <a:spcBef>
                <a:spcPts val="300"/>
              </a:spcBef>
            </a:pPr>
            <a:r>
              <a:rPr sz="1200">
                <a:latin typeface="Calibri"/>
              </a:rPr>
              <a:t>Constraints: no URL leaks, grounded steps from SIIS only, cache for repeats/paraphrases, generalize to unseen SIIS payloads, live API for judges.</a:t>
            </a:r>
          </a:p>
        </p:txBody>
      </p:sp>
      <p:sp>
        <p:nvSpPr>
          <p:cNvPr id="102" name="Google Shape;102;p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2000" b="1">
                <a:latin typeface="Calibri"/>
              </a:rPr>
              <a:t>Existing Solutions &amp; Gaps</a:t>
            </a:r>
            <a:endParaRPr/>
          </a:p>
          <a:p>
            <a:pPr>
              <a:spcBef>
                <a:spcPts val="300"/>
              </a:spcBef>
            </a:pPr>
            <a:r>
              <a:rPr sz="1200">
                <a:latin typeface="Calibri"/>
              </a:rPr>
              <a:t>Existing: generic LLM chatbots, static FAQ pages, SIIS text dumps without structure.</a:t>
            </a:r>
          </a:p>
          <a:p>
            <a:pPr>
              <a:spcBef>
                <a:spcPts val="300"/>
              </a:spcBef>
            </a:pPr>
            <a:r>
              <a:rPr sz="1200">
                <a:latin typeface="Calibri"/>
              </a:rPr>
              <a:t>Gaps we close:</a:t>
            </a:r>
          </a:p>
          <a:p>
            <a:pPr>
              <a:spcBef>
                <a:spcPts val="300"/>
              </a:spcBef>
            </a:pPr>
            <a:r>
              <a:rPr sz="1200">
                <a:latin typeface="Calibri"/>
              </a:rPr>
              <a:t>- No schema enforcement → invalid goals/titles/descriptions fail automated gates</a:t>
            </a:r>
          </a:p>
          <a:p>
            <a:pPr>
              <a:spcBef>
                <a:spcPts val="300"/>
              </a:spcBef>
            </a:pPr>
            <a:r>
              <a:rPr sz="1200">
                <a:latin typeface="Calibri"/>
              </a:rPr>
              <a:t>- Raw URLs / open links → G5 disqualification</a:t>
            </a:r>
          </a:p>
          <a:p>
            <a:pPr>
              <a:spcBef>
                <a:spcPts val="300"/>
              </a:spcBef>
            </a:pPr>
            <a:r>
              <a:rPr sz="1200">
                <a:latin typeface="Calibri"/>
              </a:rPr>
              <a:t>- No cache → repeat/paraphrase latency fails A3</a:t>
            </a:r>
          </a:p>
          <a:p>
            <a:pPr>
              <a:spcBef>
                <a:spcPts val="300"/>
              </a:spcBef>
            </a:pPr>
            <a:r>
              <a:rPr sz="1200">
                <a:latin typeface="Calibri"/>
              </a:rPr>
              <a:t>- Invented steps → not grounded in SIIS</a:t>
            </a:r>
          </a:p>
          <a:p>
            <a:pPr>
              <a:spcBef>
                <a:spcPts val="300"/>
              </a:spcBef>
            </a:pPr>
            <a:r>
              <a:rPr sz="1200">
                <a:latin typeface="Calibri"/>
              </a:rPr>
              <a:t>- No deeplink catalog matching → auto actions missing actionable deeplinks</a:t>
            </a:r>
          </a:p>
        </p:txBody>
      </p:sp>
      <p:sp>
        <p:nvSpPr>
          <p:cNvPr id="108" name="Google Shape;108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 txBox="1"/>
          <p:nvPr>
            <p:ph type="title"/>
          </p:nvPr>
        </p:nvSpPr>
        <p:spPr>
          <a:xfrm>
            <a:off x="909917" y="26651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2000" b="1">
                <a:latin typeface="Calibri"/>
              </a:rPr>
              <a:t>Our Solution &amp; Architecture</a:t>
            </a:r>
            <a:endParaRPr/>
          </a:p>
          <a:p>
            <a:pPr>
              <a:spcBef>
                <a:spcPts val="300"/>
              </a:spcBef>
            </a:pPr>
            <a:r>
              <a:rPr sz="1200">
                <a:latin typeface="Calibri"/>
              </a:rPr>
              <a:t>Live FastAPI: GET /health  ·  POST /v1/troubleshoot</a:t>
            </a:r>
          </a:p>
          <a:p>
            <a:pPr>
              <a:spcBef>
                <a:spcPts val="300"/>
              </a:spcBef>
            </a:pPr>
            <a:r>
              <a:rPr sz="1200">
                <a:latin typeface="Calibri"/>
              </a:rPr>
              <a:t>Pipeline: Normalize → Cache → Gemini Stage1 plan → Grounding → Hybrid retrieval (BM25 + embeddings locally; BM25-only LIGHTWEIGHT on Render) → Gemini Stage2 deeplink pick → Repair/validate → JSON</a:t>
            </a:r>
          </a:p>
          <a:p>
            <a:pPr>
              <a:spcBef>
                <a:spcPts val="300"/>
              </a:spcBef>
            </a:pPr>
            <a:r>
              <a:rPr sz="1200">
                <a:latin typeface="Calibri"/>
              </a:rPr>
              <a:t>Fallback: extractive SIIS Step parser when LLM fails/timeouts</a:t>
            </a:r>
          </a:p>
          <a:p>
            <a:pPr>
              <a:spcBef>
                <a:spcPts val="300"/>
              </a:spcBef>
            </a:pPr>
            <a:r>
              <a:rPr sz="1200">
                <a:latin typeface="Calibri"/>
              </a:rPr>
              <a:t>Warm cache from results.jsonl (exact + paraphrase keys)</a:t>
            </a:r>
          </a:p>
          <a:p>
            <a:pPr>
              <a:spcBef>
                <a:spcPts val="300"/>
              </a:spcBef>
            </a:pPr>
            <a:r>
              <a:rPr sz="1200">
                <a:latin typeface="Calibri"/>
              </a:rPr>
              <a:t>Deploy: Docker on Render free tier  ·  https://srm-thinkloop-theme2.onrender.com</a:t>
            </a:r>
          </a:p>
        </p:txBody>
      </p:sp>
      <p:sp>
        <p:nvSpPr>
          <p:cNvPr id="114" name="Google Shape;114;p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2000" b="1">
                <a:latin typeface="Calibri"/>
              </a:rPr>
              <a:t>Demo &amp; Product Walkthrough</a:t>
            </a:r>
            <a:endParaRPr/>
          </a:p>
          <a:p>
            <a:pPr>
              <a:spcBef>
                <a:spcPts val="300"/>
              </a:spcBef>
            </a:pPr>
            <a:r>
              <a:rPr sz="1200">
                <a:latin typeface="Calibri"/>
              </a:rPr>
              <a:t>Demo video in repo: submission/Demo_Video.mp4</a:t>
            </a:r>
          </a:p>
          <a:p>
            <a:pPr>
              <a:spcBef>
                <a:spcPts val="300"/>
              </a:spcBef>
            </a:pPr>
            <a:r>
              <a:rPr sz="1200">
                <a:latin typeface="Calibri"/>
              </a:rPr>
              <a:t>https://github.com/visshva-r/SRM_ThinkLoop_Theme2/blob/main/submission/Demo_Video.mp4</a:t>
            </a:r>
          </a:p>
          <a:p>
            <a:pPr>
              <a:spcBef>
                <a:spcPts val="300"/>
              </a:spcBef>
            </a:pPr>
            <a:r>
              <a:rPr sz="1200">
                <a:latin typeface="Calibri"/>
              </a:rPr>
              <a:t>Walkthrough shown:</a:t>
            </a:r>
          </a:p>
          <a:p>
            <a:pPr>
              <a:spcBef>
                <a:spcPts val="300"/>
              </a:spcBef>
            </a:pPr>
            <a:r>
              <a:rPr sz="1200">
                <a:latin typeface="Calibri"/>
              </a:rPr>
              <a:t>1) /health → {"status":"ok"}</a:t>
            </a:r>
          </a:p>
          <a:p>
            <a:pPr>
              <a:spcBef>
                <a:spcPts val="300"/>
              </a:spcBef>
            </a:pPr>
            <a:r>
              <a:rPr sz="1200">
                <a:latin typeface="Calibri"/>
              </a:rPr>
              <a:t>2) Kit blank-display query → structured contexts + bixby:// deeplinks</a:t>
            </a:r>
          </a:p>
          <a:p>
            <a:pPr>
              <a:spcBef>
                <a:spcPts val="300"/>
              </a:spcBef>
            </a:pPr>
            <a:r>
              <a:rPr sz="1200">
                <a:latin typeface="Calibri"/>
              </a:rPr>
              <a:t>3) Exact repeat → meta.cache_hit=true</a:t>
            </a:r>
          </a:p>
          <a:p>
            <a:pPr>
              <a:spcBef>
                <a:spcPts val="300"/>
              </a:spcBef>
            </a:pPr>
            <a:r>
              <a:rPr sz="1200">
                <a:latin typeface="Calibri"/>
              </a:rPr>
              <a:t>4) Paraphrase → cache hit from warmed variations</a:t>
            </a:r>
          </a:p>
          <a:p>
            <a:pPr>
              <a:spcBef>
                <a:spcPts val="300"/>
              </a:spcBef>
            </a:pPr>
            <a:r>
              <a:rPr sz="1200">
                <a:latin typeface="Calibri"/>
              </a:rPr>
              <a:t>5) Unseen Wi-Fi SIIS → gemini-2.5-flash, grounded steps, no URL leaks</a:t>
            </a:r>
          </a:p>
          <a:p>
            <a:pPr>
              <a:spcBef>
                <a:spcPts val="300"/>
              </a:spcBef>
            </a:pPr>
            <a:r>
              <a:rPr sz="1200">
                <a:latin typeface="Calibri"/>
              </a:rPr>
              <a:t>Swagger UI: https://srm-thinkloop-theme2.onrender.com/docs</a:t>
            </a:r>
          </a:p>
        </p:txBody>
      </p:sp>
      <p:sp>
        <p:nvSpPr>
          <p:cNvPr id="120" name="Google Shape;120;p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2000" b="1">
                <a:latin typeface="Calibri"/>
              </a:rPr>
              <a:t>Tools and Tech Stack</a:t>
            </a:r>
            <a:endParaRPr b="1">
              <a:solidFill>
                <a:srgbClr val="704EA6"/>
              </a:solidFill>
            </a:endParaRPr>
          </a:p>
          <a:p>
            <a:pPr>
              <a:spcBef>
                <a:spcPts val="300"/>
              </a:spcBef>
            </a:pPr>
            <a:r>
              <a:rPr sz="1200">
                <a:latin typeface="Calibri"/>
              </a:rPr>
              <a:t>Language / API: Python 3.11, FastAPI, Uvicorn, Pydantic v2</a:t>
            </a:r>
          </a:p>
          <a:p>
            <a:pPr>
              <a:spcBef>
                <a:spcPts val="300"/>
              </a:spcBef>
            </a:pPr>
            <a:r>
              <a:rPr sz="1200">
                <a:latin typeface="Calibri"/>
              </a:rPr>
              <a:t>LLM: Google Gemini 2.5 Flash (google-genai) — Stage1 plan + Stage2 pick</a:t>
            </a:r>
          </a:p>
          <a:p>
            <a:pPr>
              <a:spcBef>
                <a:spcPts val="300"/>
              </a:spcBef>
            </a:pPr>
            <a:r>
              <a:rPr sz="1200">
                <a:latin typeface="Calibri"/>
              </a:rPr>
              <a:t>Retrieval: rank-bm25, fastembed ONNX (local); LIGHTWEIGHT BM25 on Render</a:t>
            </a:r>
          </a:p>
          <a:p>
            <a:pPr>
              <a:spcBef>
                <a:spcPts val="300"/>
              </a:spcBef>
            </a:pPr>
            <a:r>
              <a:rPr sz="1200">
                <a:latin typeface="Calibri"/>
              </a:rPr>
              <a:t>Cache: in-memory exact + paraphrase keys; semantic embeddings locally</a:t>
            </a:r>
          </a:p>
          <a:p>
            <a:pPr>
              <a:spcBef>
                <a:spcPts val="300"/>
              </a:spcBef>
            </a:pPr>
            <a:r>
              <a:rPr sz="1200">
                <a:latin typeface="Calibri"/>
              </a:rPr>
              <a:t>Data: deeplinks.json (578), siis_responses.json (20), results.jsonl</a:t>
            </a:r>
          </a:p>
          <a:p>
            <a:pPr>
              <a:spcBef>
                <a:spcPts val="300"/>
              </a:spcBef>
            </a:pPr>
            <a:r>
              <a:rPr sz="1200">
                <a:latin typeface="Calibri"/>
              </a:rPr>
              <a:t>Deploy: Docker, Render free, render.yaml + Dockerfile</a:t>
            </a:r>
          </a:p>
          <a:p>
            <a:pPr>
              <a:spcBef>
                <a:spcPts val="300"/>
              </a:spcBef>
            </a:pPr>
            <a:r>
              <a:rPr sz="1200">
                <a:latin typeface="Calibri"/>
              </a:rPr>
              <a:t>Eval: scripts/eval_local.py (G2–G5, A1–A5), pytest</a:t>
            </a:r>
          </a:p>
        </p:txBody>
      </p:sp>
      <p:sp>
        <p:nvSpPr>
          <p:cNvPr id="126" name="Google Shape;126;p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2000" b="1">
                <a:latin typeface="Calibri"/>
              </a:rPr>
              <a:t>Impact &amp; Use Case</a:t>
            </a:r>
            <a:endParaRPr b="1">
              <a:solidFill>
                <a:srgbClr val="704EA6"/>
              </a:solidFill>
            </a:endParaRPr>
          </a:p>
          <a:p>
            <a:pPr>
              <a:spcBef>
                <a:spcPts val="300"/>
              </a:spcBef>
            </a:pPr>
            <a:r>
              <a:rPr sz="1200">
                <a:latin typeface="Calibri"/>
              </a:rPr>
              <a:t>Use case: Samsung support / Bixby-style guided fix flows for Galaxy devices.</a:t>
            </a:r>
          </a:p>
          <a:p>
            <a:pPr>
              <a:spcBef>
                <a:spcPts val="300"/>
              </a:spcBef>
            </a:pPr>
            <a:r>
              <a:rPr sz="1200">
                <a:latin typeface="Calibri"/>
              </a:rPr>
              <a:t>User describes a blank screen, Wi-Fi failure, cracked display, etc.</a:t>
            </a:r>
          </a:p>
          <a:p>
            <a:pPr>
              <a:spcBef>
                <a:spcPts val="300"/>
              </a:spcBef>
            </a:pPr>
            <a:r>
              <a:rPr sz="1200">
                <a:latin typeface="Calibri"/>
              </a:rPr>
              <a:t>System returns ordered Goals → Actions → StepGroups with masked deeplinks so an assistant can open the right Settings screen safely.</a:t>
            </a:r>
          </a:p>
          <a:p>
            <a:pPr>
              <a:spcBef>
                <a:spcPts val="300"/>
              </a:spcBef>
            </a:pPr>
            <a:r>
              <a:rPr sz="1200">
                <a:latin typeface="Calibri"/>
              </a:rPr>
              <a:t>Impact: faster first-response troubleshooting, fewer invented steps, judge-safe outputs (schema + zero URL leaks), reproducible Docker deploy.</a:t>
            </a:r>
          </a:p>
        </p:txBody>
      </p:sp>
      <p:sp>
        <p:nvSpPr>
          <p:cNvPr id="132" name="Google Shape;132;p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Innovation highlights, results and limitations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38" name="Google Shape;138;p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sz="2000" b="1">
                <a:latin typeface="Calibri"/>
              </a:rPr>
              <a:t>Innovation, Results &amp; Limitations</a:t>
            </a:r>
            <a:endParaRPr/>
          </a:p>
          <a:p>
            <a:pPr>
              <a:spcBef>
                <a:spcPts val="300"/>
              </a:spcBef>
            </a:pPr>
            <a:r>
              <a:rPr sz="1200">
                <a:latin typeface="Calibri"/>
              </a:rPr>
              <a:t>Innovation: hedged JSON shape + repair layer; SIIS grounding; dummy deeplink policy; warm cache from offline results; Render LIGHTWEIGHT_MODE under 512MB.</a:t>
            </a:r>
          </a:p>
          <a:p>
            <a:pPr>
              <a:spcBef>
                <a:spcPts val="300"/>
              </a:spcBef>
            </a:pPr>
            <a:r>
              <a:rPr sz="1200">
                <a:latin typeface="Calibri"/>
              </a:rPr>
              <a:t>Results: G2–G5 PASS; A1 15/15; A2 15/15; A5 5/5; A4 8/10; live black-box checks 6/6; cache_hit 100% on kit/paraphrase.</a:t>
            </a:r>
          </a:p>
          <a:p>
            <a:pPr>
              <a:spcBef>
                <a:spcPts val="300"/>
              </a:spcBef>
            </a:pPr>
            <a:r>
              <a:rPr sz="1200">
                <a:latin typeface="Calibri"/>
              </a:rPr>
              <a:t>Limitations: Render free network latency (~700ms) vs 300ms A3 target; cold Gemini path slow on free tier; dense retrieval disabled on free RAM.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2000" b="1">
                <a:latin typeface="Calibri"/>
              </a:rPr>
              <a:t>What’s Next</a:t>
            </a:r>
            <a:endParaRPr b="1" sz="4400">
              <a:solidFill>
                <a:srgbClr val="704EA6"/>
              </a:solidFill>
            </a:endParaRPr>
          </a:p>
          <a:p>
            <a:pPr>
              <a:spcBef>
                <a:spcPts val="300"/>
              </a:spcBef>
            </a:pPr>
            <a:r>
              <a:rPr sz="1200">
                <a:latin typeface="Calibri"/>
              </a:rPr>
              <a:t>- Re-enable hybrid dense retrieval on a larger host for better deeplink precision</a:t>
            </a:r>
          </a:p>
          <a:p>
            <a:pPr>
              <a:spcBef>
                <a:spcPts val="300"/>
              </a:spcBef>
            </a:pPr>
            <a:r>
              <a:rPr sz="1200">
                <a:latin typeface="Calibri"/>
              </a:rPr>
              <a:t>- Tighten cold-path p95 with response streaming / hedged timeouts</a:t>
            </a:r>
          </a:p>
          <a:p>
            <a:pPr>
              <a:spcBef>
                <a:spcPts val="300"/>
              </a:spcBef>
            </a:pPr>
            <a:r>
              <a:rPr sz="1200">
                <a:latin typeface="Calibri"/>
              </a:rPr>
              <a:t>- Expand paraphrase embedding cache beyond exact keys on production memory</a:t>
            </a:r>
          </a:p>
          <a:p>
            <a:pPr>
              <a:spcBef>
                <a:spcPts val="300"/>
              </a:spcBef>
            </a:pPr>
            <a:r>
              <a:rPr sz="1200">
                <a:latin typeface="Calibri"/>
              </a:rPr>
              <a:t>- Add more SIIS domains beyond the 20-kit scenarios</a:t>
            </a:r>
          </a:p>
          <a:p>
            <a:pPr>
              <a:spcBef>
                <a:spcPts val="300"/>
              </a:spcBef>
            </a:pPr>
            <a:r>
              <a:rPr sz="1200">
                <a:latin typeface="Calibri"/>
              </a:rPr>
              <a:t>- Package as a PRISM worklet with Samsung mentor feedback</a:t>
            </a:r>
          </a:p>
        </p:txBody>
      </p:sp>
      <p:sp>
        <p:nvSpPr>
          <p:cNvPr id="144" name="Google Shape;144;p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2000" b="1">
                <a:latin typeface="Calibri"/>
              </a:rPr>
              <a:t>Differentiation (Brownie Points)</a:t>
            </a:r>
            <a:endParaRPr b="1" sz="4400">
              <a:solidFill>
                <a:srgbClr val="704EA6"/>
              </a:solidFill>
            </a:endParaRPr>
          </a:p>
          <a:p>
            <a:pPr>
              <a:spcBef>
                <a:spcPts val="300"/>
              </a:spcBef>
            </a:pPr>
            <a:r>
              <a:rPr sz="1200">
                <a:latin typeface="Calibri"/>
              </a:rPr>
              <a:t>- Gemini + extractive fallback (works even if LLM is down)</a:t>
            </a:r>
          </a:p>
          <a:p>
            <a:pPr>
              <a:spcBef>
                <a:spcPts val="300"/>
              </a:spcBef>
            </a:pPr>
            <a:r>
              <a:rPr sz="1200">
                <a:latin typeface="Calibri"/>
              </a:rPr>
              <a:t>- Programmatic repair for goal/title/description/category rules</a:t>
            </a:r>
          </a:p>
          <a:p>
            <a:pPr>
              <a:spcBef>
                <a:spcPts val="300"/>
              </a:spcBef>
            </a:pPr>
            <a:r>
              <a:rPr sz="1200">
                <a:latin typeface="Calibri"/>
              </a:rPr>
              <a:t>- Zero URL leak scrubbing across the full JSON tree</a:t>
            </a:r>
          </a:p>
          <a:p>
            <a:pPr>
              <a:spcBef>
                <a:spcPts val="300"/>
              </a:spcBef>
            </a:pPr>
            <a:r>
              <a:rPr sz="1200">
                <a:latin typeface="Calibri"/>
              </a:rPr>
              <a:t>- Cache warm-load so kit + variations hit immediately after deploy</a:t>
            </a:r>
          </a:p>
          <a:p>
            <a:pPr>
              <a:spcBef>
                <a:spcPts val="300"/>
              </a:spcBef>
            </a:pPr>
            <a:r>
              <a:rPr sz="1200">
                <a:latin typeface="Calibri"/>
              </a:rPr>
              <a:t>- Free-tier deploy that still passes live health/schema/generalization checks</a:t>
            </a:r>
          </a:p>
          <a:p>
            <a:pPr>
              <a:spcBef>
                <a:spcPts val="300"/>
              </a:spcBef>
            </a:pPr>
            <a:r>
              <a:rPr sz="1200">
                <a:latin typeface="Calibri"/>
              </a:rPr>
              <a:t>- Local scorer reproducing G2–G5 and A1–A5 for iteration speed</a:t>
            </a:r>
          </a:p>
        </p:txBody>
      </p:sp>
      <p:sp>
        <p:nvSpPr>
          <p:cNvPr id="150" name="Google Shape;150;p1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2000" b="1">
                <a:latin typeface="Calibri"/>
              </a:rPr>
              <a:t>Checklist — Updated on Public GitHub</a:t>
            </a:r>
            <a:endParaRPr/>
          </a:p>
          <a:p>
            <a:pPr>
              <a:spcBef>
                <a:spcPts val="300"/>
              </a:spcBef>
            </a:pPr>
            <a:r>
              <a:rPr sz="1200">
                <a:latin typeface="Calibri"/>
              </a:rPr>
              <a:t>Working prototype code — public GitHub repo ………… YES</a:t>
            </a:r>
          </a:p>
          <a:p>
            <a:pPr>
              <a:spcBef>
                <a:spcPts val="300"/>
              </a:spcBef>
            </a:pPr>
            <a:r>
              <a:rPr sz="1200">
                <a:latin typeface="Calibri"/>
              </a:rPr>
              <a:t>README with reproducible setup + Docker …………… YES</a:t>
            </a:r>
          </a:p>
          <a:p>
            <a:pPr>
              <a:spcBef>
                <a:spcPts val="300"/>
              </a:spcBef>
            </a:pPr>
            <a:r>
              <a:rPr sz="1200">
                <a:latin typeface="Calibri"/>
              </a:rPr>
              <a:t>Demo video ≤5 min (in repo) ………………………… YES</a:t>
            </a:r>
          </a:p>
          <a:p>
            <a:pPr>
              <a:spcBef>
                <a:spcPts val="300"/>
              </a:spcBef>
            </a:pPr>
            <a:r>
              <a:rPr sz="1200">
                <a:latin typeface="Calibri"/>
              </a:rPr>
              <a:t>  → submission/Demo_Video.mp4</a:t>
            </a:r>
          </a:p>
          <a:p>
            <a:pPr>
              <a:spcBef>
                <a:spcPts val="300"/>
              </a:spcBef>
            </a:pPr>
            <a:r>
              <a:rPr sz="1200">
                <a:latin typeface="Calibri"/>
              </a:rPr>
              <a:t>Presentation file (PPT) ……………………………… YES</a:t>
            </a:r>
          </a:p>
          <a:p>
            <a:pPr>
              <a:spcBef>
                <a:spcPts val="300"/>
              </a:spcBef>
            </a:pPr>
            <a:r>
              <a:rPr sz="1200">
                <a:latin typeface="Calibri"/>
              </a:rPr>
              <a:t>  → submission/SRM_ThinkLoop_Submission.pptx</a:t>
            </a:r>
          </a:p>
          <a:p>
            <a:pPr>
              <a:spcBef>
                <a:spcPts val="300"/>
              </a:spcBef>
            </a:pPr>
            <a:r>
              <a:rPr sz="1200">
                <a:latin typeface="Calibri"/>
              </a:rPr>
              <a:t>AI Disclosure ………………………………………… YES</a:t>
            </a:r>
          </a:p>
          <a:p>
            <a:pPr>
              <a:spcBef>
                <a:spcPts val="300"/>
              </a:spcBef>
            </a:pPr>
            <a:r>
              <a:rPr sz="1200">
                <a:latin typeface="Calibri"/>
              </a:rPr>
              <a:t>  → submission/LangAI3.0_AI_Disclosure.docx</a:t>
            </a:r>
          </a:p>
          <a:p>
            <a:pPr>
              <a:spcBef>
                <a:spcPts val="300"/>
              </a:spcBef>
            </a:pPr>
            <a:r>
              <a:rPr sz="1200">
                <a:latin typeface="Calibri"/>
              </a:rPr>
              <a:t>Release tag PRISM_GENAI_HACKATHON_Y2026 …… YES (retagged on final commit)</a:t>
            </a:r>
          </a:p>
          <a:p>
            <a:pPr>
              <a:spcBef>
                <a:spcPts val="300"/>
              </a:spcBef>
            </a:pPr>
            <a:r>
              <a:rPr sz="1200">
                <a:latin typeface="Calibri"/>
              </a:rPr>
              <a:t>Live API ……………………………………………… YES — https://srm-thinkloop-theme2.onrender.com</a:t>
            </a:r>
          </a:p>
        </p:txBody>
      </p:sp>
      <p:sp>
        <p:nvSpPr>
          <p:cNvPr id="156" name="Google Shape;156;p1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7780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Working prototype code — public or shared GitHub repo (Y/N)</a:t>
            </a:r>
            <a:endParaRPr sz="2800"/>
          </a:p>
          <a:p>
            <a:pPr indent="-177800" lvl="0" marL="17780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README with reproducible setup instructions (Y/N)</a:t>
            </a:r>
            <a:endParaRPr sz="2800"/>
          </a:p>
          <a:p>
            <a:pPr indent="-177800" lvl="0" marL="17780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Demo video, max 5 minutes (YouTube or Drive link)</a:t>
            </a:r>
            <a:endParaRPr sz="2800"/>
          </a:p>
          <a:p>
            <a:pPr indent="-177800" lvl="0" marL="17780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Presentation file (PPT or PDF) (Y/N)</a:t>
            </a:r>
            <a:endParaRPr sz="2800"/>
          </a:p>
          <a:p>
            <a:pPr indent="0" lvl="0" marL="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2"/>
          <p:cNvSpPr txBox="1"/>
          <p:nvPr/>
        </p:nvSpPr>
        <p:spPr>
          <a:xfrm>
            <a:off x="1046181" y="3730214"/>
            <a:ext cx="676656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4600"/>
              <a:buFont typeface="Arial"/>
              <a:buNone/>
            </a:pPr>
            <a:r>
              <a:rPr b="1" i="0" lang="en-US" sz="46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2"/>
          <p:cNvSpPr txBox="1"/>
          <p:nvPr/>
        </p:nvSpPr>
        <p:spPr>
          <a:xfrm>
            <a:off x="777240" y="5897880"/>
            <a:ext cx="106070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Organised by the Language AI Team and the PRISM Team, Samsung R&amp;D Institute India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2026-09-07T12:01:01Z</dcterms:created>
  <dc:creator>Binny Lakra/PRISM /SRI-Bangalore/Professional/Samsung Electronics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